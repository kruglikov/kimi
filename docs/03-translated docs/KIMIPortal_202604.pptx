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56" r:id="rId3"/>
    <p:sldId id="257" r:id="rId4"/>
    <p:sldId id="274" r:id="rId5"/>
    <p:sldId id="258" r:id="rId6"/>
    <p:sldId id="259" r:id="rId7"/>
    <p:sldId id="261" r:id="rId8"/>
    <p:sldId id="262" r:id="rId9"/>
    <p:sldId id="264" r:id="rId10"/>
    <p:sldId id="275" r:id="rId11"/>
    <p:sldId id="277" r:id="rId12"/>
    <p:sldId id="276" r:id="rId13"/>
    <p:sldId id="263" r:id="rId14"/>
    <p:sldId id="265" r:id="rId15"/>
    <p:sldId id="267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7FCE0-F161-EA27-5D6E-5D3CF02E4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DA629A-D75D-41C1-BC2C-F6781E50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E62B6-4F66-6864-D685-F1A889A8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EEB77F-9093-E01A-F6DB-C18BC018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E1EE62-2C4F-4651-EBAF-1993C670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863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DCDEF-CEA7-ED2B-2922-9416123C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E3860C-C7A2-DCD6-E602-DCAE23BA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327FA-D750-8C25-89EB-B1DEBFA6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248692-C2F5-9663-0096-C288BECD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AB9B76-E294-3421-4F19-AE24BFD4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665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5999D-2A53-C599-C0F1-AEF130A8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D30A75-0B59-71AC-0852-4BD143701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E24A0E-3314-B3E6-2C83-B536D156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57A14D-98EA-4155-E7C7-06678979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C59698-CA9B-766F-8314-E7624CF9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947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1DA390-5666-050A-6666-ACD6693C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7F6AEC-8BEA-B1E8-BB33-396C38B69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3629D8-3713-8ED7-65D0-374747D9A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138B55-172B-67ED-CD24-44246BC0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572C37-3CB4-EADC-7CBA-5C8524B4F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95D897-3EC4-8AF1-10DB-34A8E25F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868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0FE86-2A99-8ADA-2947-C44AC8D1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8AD723-95BF-5423-2842-ECE889C2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872C6D-1904-7B1E-A64D-AE9993FD3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50B8BE-B5A4-6A27-D74F-B1BD59974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26AE6C-2385-FE6E-F1DA-92F30B0BA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206199-3BE2-BFD9-91BA-910E4BB1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5274AE-1383-CE43-7C3A-5F595696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E3DF72-208F-0BE8-26B9-A97B0C5D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3040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EA078-0F42-A53A-E36F-C20E04F4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2ADC473-D339-24A7-AC20-DF2094C7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0BD686-1664-D0C2-0651-EE449FC8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E0E731-0A8B-A4F5-701C-CC614EA6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581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A91386-732B-927E-CC36-E2803EBF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79FAA9-DC93-9B01-8050-146256E3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0B7537-85C4-249C-ACB5-DD828368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8436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8C6B41-3B38-0439-4022-ECF3E2D3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5867C6-7D2E-10BD-5CDD-09790CFB1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DA426D-7266-A335-695E-061A7E5E3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3F447F-E4A3-6A72-EE8F-665700B6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F6F8A3-471B-DD1B-DAEC-3E61F336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815C93-0D87-D98F-9765-ED9EA52A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665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FF36A-9A8C-A5F1-685B-5D1C9FFF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E99603B-B929-C283-BBCE-4E597771E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60DC78-9FD6-3DD2-6A1B-16435AC66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DDE7DB-0816-B2C9-063E-FE47F906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22A42A-86B3-34A3-340F-B3EB5B6F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5806DB-6D50-EEF9-9332-D3C5EA84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4527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38E98-D81B-D2CD-2E22-89F14546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CB3671-E099-EEDB-F5BD-771A6EDC2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AD263E-4735-8B13-691D-78031BFA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07F4BF-0A9F-6589-D65F-3280A5AB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85FD6A-6F30-3098-3BA9-C8BE1FF4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4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C7E714A-FD2A-8DE7-9630-77CEF0EA2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DBA8C8-8C6C-026A-49C6-D0851E885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5CAB7-335D-7995-3698-190D430A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A30D5D-F1DB-4CB1-E2EA-9998D7CE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023A4-2174-E6C9-D702-19231913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649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F6393C0-4CEC-7E25-39BA-FDDE72BB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D29DA3-3712-9612-0A7E-4D50AAA99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F57DCE-16DD-93C7-5C58-6CE11B69E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DFC89A-8512-50E4-FEBA-ABB88229B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7CFB2E-070D-2EEB-7387-CC465DDD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0076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hteck 61">
            <a:extLst>
              <a:ext uri="{FF2B5EF4-FFF2-40B4-BE49-F238E27FC236}">
                <a16:creationId xmlns:a16="http://schemas.microsoft.com/office/drawing/2014/main" id="{C2777E98-F897-4961-489B-C2128FF79F97}"/>
              </a:ext>
            </a:extLst>
          </p:cNvPr>
          <p:cNvSpPr/>
          <p:nvPr/>
        </p:nvSpPr>
        <p:spPr>
          <a:xfrm>
            <a:off x="5044676" y="4690930"/>
            <a:ext cx="2127860" cy="1303470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E4FFA9-01E4-C421-FFF5-42AF719A1DEF}"/>
              </a:ext>
            </a:extLst>
          </p:cNvPr>
          <p:cNvSpPr/>
          <p:nvPr/>
        </p:nvSpPr>
        <p:spPr>
          <a:xfrm>
            <a:off x="2280638" y="4100996"/>
            <a:ext cx="2127860" cy="1701959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50498C5C-4F57-D63D-D9B3-AC6372F96DC6}"/>
              </a:ext>
            </a:extLst>
          </p:cNvPr>
          <p:cNvSpPr/>
          <p:nvPr/>
        </p:nvSpPr>
        <p:spPr>
          <a:xfrm>
            <a:off x="2280638" y="1293794"/>
            <a:ext cx="1177326" cy="276375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87BFD467-9D4A-7962-6270-F75D596247DD}"/>
              </a:ext>
            </a:extLst>
          </p:cNvPr>
          <p:cNvSpPr/>
          <p:nvPr/>
        </p:nvSpPr>
        <p:spPr>
          <a:xfrm>
            <a:off x="7703830" y="1868043"/>
            <a:ext cx="1383019" cy="314845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3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3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9B2BC93-380E-5C64-1976-24243E859269}"/>
              </a:ext>
            </a:extLst>
          </p:cNvPr>
          <p:cNvSpPr/>
          <p:nvPr/>
        </p:nvSpPr>
        <p:spPr>
          <a:xfrm>
            <a:off x="3575439" y="617066"/>
            <a:ext cx="2717413" cy="1619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90D9EE6-A724-D002-5540-CB0AAE3A089B}"/>
              </a:ext>
            </a:extLst>
          </p:cNvPr>
          <p:cNvSpPr txBox="1"/>
          <p:nvPr/>
        </p:nvSpPr>
        <p:spPr>
          <a:xfrm>
            <a:off x="374650" y="32385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DB model</a:t>
            </a:r>
            <a:endParaRPr xmlns:a="http://schemas.openxmlformats.org/drawingml/2006/main" lang="de-AT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44B405C-96DE-4773-DF24-8B9406269E77}"/>
              </a:ext>
            </a:extLst>
          </p:cNvPr>
          <p:cNvSpPr/>
          <p:nvPr/>
        </p:nvSpPr>
        <p:spPr>
          <a:xfrm>
            <a:off x="4305300" y="2355850"/>
            <a:ext cx="1333500" cy="10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dirty="0"/>
              <a:t>TICKET</a:t>
            </a:r>
            <a:endParaRPr xmlns:a="http://schemas.openxmlformats.org/drawingml/2006/main" lang="de-AT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445509F-6281-9BA2-7680-832C37C04EF6}"/>
              </a:ext>
            </a:extLst>
          </p:cNvPr>
          <p:cNvSpPr/>
          <p:nvPr/>
        </p:nvSpPr>
        <p:spPr>
          <a:xfrm>
            <a:off x="3937000" y="787400"/>
            <a:ext cx="615950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CLIENT</a:t>
            </a:r>
            <a:endParaRPr xmlns:a="http://schemas.openxmlformats.org/drawingml/2006/main" lang="de-AT" sz="1050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A812F49-8EB5-9880-EB7B-77B65DF9F53D}"/>
              </a:ext>
            </a:extLst>
          </p:cNvPr>
          <p:cNvSpPr/>
          <p:nvPr/>
        </p:nvSpPr>
        <p:spPr>
          <a:xfrm>
            <a:off x="5591175" y="806450"/>
            <a:ext cx="615950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users</a:t>
            </a:r>
            <a:endParaRPr xmlns:a="http://schemas.openxmlformats.org/drawingml/2006/main" lang="de-AT" sz="105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0957AD0-931A-6189-48CF-4D18E52E5AFA}"/>
              </a:ext>
            </a:extLst>
          </p:cNvPr>
          <p:cNvSpPr/>
          <p:nvPr/>
        </p:nvSpPr>
        <p:spPr>
          <a:xfrm>
            <a:off x="4664074" y="1193800"/>
            <a:ext cx="809625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Client users</a:t>
            </a:r>
            <a:endParaRPr xmlns:a="http://schemas.openxmlformats.org/drawingml/2006/main" lang="de-AT" sz="105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A09E2ED-CFBD-3679-AE03-164DC08112B7}"/>
              </a:ext>
            </a:extLst>
          </p:cNvPr>
          <p:cNvSpPr txBox="1"/>
          <p:nvPr/>
        </p:nvSpPr>
        <p:spPr>
          <a:xfrm>
            <a:off x="5822950" y="2419350"/>
            <a:ext cx="5774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600" dirty="0"/>
              <a:t>Columns:</a:t>
            </a:r>
          </a:p>
          <a:p>
            <a:r xmlns:a="http://schemas.openxmlformats.org/drawingml/2006/main">
              <a:rPr lang="en" sz="600" dirty="0" err="1"/>
              <a:t>Client ID</a:t>
            </a:r>
            <a:endParaRPr xmlns:a="http://schemas.openxmlformats.org/drawingml/2006/main" lang="de-DE" sz="600" dirty="0"/>
          </a:p>
          <a:p>
            <a:r xmlns:a="http://schemas.openxmlformats.org/drawingml/2006/main">
              <a:rPr lang="en" sz="600" dirty="0" err="1"/>
              <a:t>User_id</a:t>
            </a:r>
            <a:endParaRPr xmlns:a="http://schemas.openxmlformats.org/drawingml/2006/main" lang="de-DE" sz="600" dirty="0"/>
          </a:p>
          <a:p>
            <a:r xmlns:a="http://schemas.openxmlformats.org/drawingml/2006/main">
              <a:rPr lang="en" sz="600" dirty="0" err="1"/>
              <a:t>Status_id</a:t>
            </a:r>
            <a:endParaRPr xmlns:a="http://schemas.openxmlformats.org/drawingml/2006/main" lang="de-DE" sz="600" dirty="0"/>
          </a:p>
          <a:p>
            <a:r xmlns:a="http://schemas.openxmlformats.org/drawingml/2006/main">
              <a:rPr lang="en" sz="600" dirty="0"/>
              <a:t>…</a:t>
            </a:r>
            <a:endParaRPr xmlns:a="http://schemas.openxmlformats.org/drawingml/2006/main" lang="de-AT" sz="6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FEE9054-E343-1851-FA6B-A1CDB2EF46D0}"/>
              </a:ext>
            </a:extLst>
          </p:cNvPr>
          <p:cNvCxnSpPr/>
          <p:nvPr/>
        </p:nvCxnSpPr>
        <p:spPr>
          <a:xfrm>
            <a:off x="4438650" y="1174750"/>
            <a:ext cx="114300" cy="1244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A75250A-0695-42F3-5DB8-6CD4AD08A84A}"/>
              </a:ext>
            </a:extLst>
          </p:cNvPr>
          <p:cNvCxnSpPr>
            <a:stCxn id="7" idx="2"/>
            <a:endCxn id="3" idx="0"/>
          </p:cNvCxnSpPr>
          <p:nvPr/>
        </p:nvCxnSpPr>
        <p:spPr>
          <a:xfrm flipH="1">
            <a:off x="4972050" y="1581150"/>
            <a:ext cx="96837" cy="774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F5C1019-6B94-71C7-3354-7905410B2FA3}"/>
              </a:ext>
            </a:extLst>
          </p:cNvPr>
          <p:cNvCxnSpPr>
            <a:cxnSpLocks/>
          </p:cNvCxnSpPr>
          <p:nvPr/>
        </p:nvCxnSpPr>
        <p:spPr>
          <a:xfrm flipH="1">
            <a:off x="5376863" y="1174750"/>
            <a:ext cx="522287" cy="118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92C23B0C-4FC6-BF35-45CF-24200FAEAC5B}"/>
              </a:ext>
            </a:extLst>
          </p:cNvPr>
          <p:cNvSpPr/>
          <p:nvPr/>
        </p:nvSpPr>
        <p:spPr>
          <a:xfrm>
            <a:off x="5127971" y="4760227"/>
            <a:ext cx="1099344" cy="7067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00" dirty="0"/>
              <a:t>KNP3_out</a:t>
            </a:r>
          </a:p>
          <a:p>
            <a:pPr xmlns:a="http://schemas.openxmlformats.org/drawingml/2006/main" algn="ctr"/>
            <a:r xmlns:a="http://schemas.openxmlformats.org/drawingml/2006/main">
              <a:rPr lang="en" sz="1000" dirty="0"/>
              <a:t>KNP1_out</a:t>
            </a:r>
          </a:p>
          <a:p>
            <a:pPr xmlns:a="http://schemas.openxmlformats.org/drawingml/2006/main" algn="ctr"/>
            <a:r xmlns:a="http://schemas.openxmlformats.org/drawingml/2006/main">
              <a:rPr lang="en" sz="1000" dirty="0" err="1"/>
              <a:t>INCODE_out</a:t>
            </a:r>
            <a:endParaRPr xmlns:a="http://schemas.openxmlformats.org/drawingml/2006/main" lang="de-DE" sz="1000" dirty="0"/>
          </a:p>
          <a:p>
            <a:pPr algn="ctr"/>
            <a:endParaRPr lang="de-AT" sz="1100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574D66C-DD50-8D9F-5072-FD0B7E58B3D0}"/>
              </a:ext>
            </a:extLst>
          </p:cNvPr>
          <p:cNvSpPr/>
          <p:nvPr/>
        </p:nvSpPr>
        <p:spPr>
          <a:xfrm>
            <a:off x="2404268" y="1840131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INKO2016</a:t>
            </a:r>
            <a:endParaRPr xmlns:a="http://schemas.openxmlformats.org/drawingml/2006/main" lang="de-AT" sz="1050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2DD2A21-7442-D3BD-0F39-83C61881C123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657633" y="2843684"/>
            <a:ext cx="647667" cy="20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C8BDA543-C82F-0B5A-5A0A-E5C9FFFF47E5}"/>
              </a:ext>
            </a:extLst>
          </p:cNvPr>
          <p:cNvSpPr txBox="1"/>
          <p:nvPr/>
        </p:nvSpPr>
        <p:spPr>
          <a:xfrm>
            <a:off x="2395958" y="1345185"/>
            <a:ext cx="10871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050" dirty="0"/>
              <a:t>IMPORT data</a:t>
            </a:r>
          </a:p>
          <a:p>
            <a:r xmlns:a="http://schemas.openxmlformats.org/drawingml/2006/main">
              <a:rPr lang="en" sz="1050" dirty="0"/>
              <a:t>Customers</a:t>
            </a:r>
            <a:endParaRPr xmlns:a="http://schemas.openxmlformats.org/drawingml/2006/main" lang="de-AT" sz="1050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BAAF7D2-5135-C32D-EFD8-B3FC78876B7B}"/>
              </a:ext>
            </a:extLst>
          </p:cNvPr>
          <p:cNvSpPr/>
          <p:nvPr/>
        </p:nvSpPr>
        <p:spPr>
          <a:xfrm>
            <a:off x="2404268" y="2270814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INCODE</a:t>
            </a:r>
            <a:endParaRPr xmlns:a="http://schemas.openxmlformats.org/drawingml/2006/main" lang="de-AT" sz="1050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B19C6F2-BC8C-3641-FC3E-2EA3B7258DDE}"/>
              </a:ext>
            </a:extLst>
          </p:cNvPr>
          <p:cNvSpPr/>
          <p:nvPr/>
        </p:nvSpPr>
        <p:spPr>
          <a:xfrm>
            <a:off x="2404268" y="2701497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ECO</a:t>
            </a:r>
            <a:endParaRPr xmlns:a="http://schemas.openxmlformats.org/drawingml/2006/main" lang="de-AT" sz="1050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0118FE42-55EC-2AE3-D43F-204A42F10BF6}"/>
              </a:ext>
            </a:extLst>
          </p:cNvPr>
          <p:cNvSpPr/>
          <p:nvPr/>
        </p:nvSpPr>
        <p:spPr>
          <a:xfrm>
            <a:off x="2404268" y="3147115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KNP1</a:t>
            </a:r>
            <a:endParaRPr xmlns:a="http://schemas.openxmlformats.org/drawingml/2006/main" lang="de-AT" sz="1050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E7158325-24B6-21F3-879E-CEE81C8CAED7}"/>
              </a:ext>
            </a:extLst>
          </p:cNvPr>
          <p:cNvSpPr/>
          <p:nvPr/>
        </p:nvSpPr>
        <p:spPr>
          <a:xfrm>
            <a:off x="2404268" y="3628601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KNP3</a:t>
            </a:r>
            <a:endParaRPr xmlns:a="http://schemas.openxmlformats.org/drawingml/2006/main" lang="de-AT" sz="1050" dirty="0"/>
          </a:p>
        </p:txBody>
      </p:sp>
      <p:sp>
        <p:nvSpPr>
          <p:cNvPr id="29" name="Geschweifte Klammer rechts 28">
            <a:extLst>
              <a:ext uri="{FF2B5EF4-FFF2-40B4-BE49-F238E27FC236}">
                <a16:creationId xmlns:a16="http://schemas.microsoft.com/office/drawing/2014/main" id="{CC70FEA6-4ECC-9F17-FDB3-6F0D172D094D}"/>
              </a:ext>
            </a:extLst>
          </p:cNvPr>
          <p:cNvSpPr/>
          <p:nvPr/>
        </p:nvSpPr>
        <p:spPr>
          <a:xfrm>
            <a:off x="3388452" y="1964646"/>
            <a:ext cx="250892" cy="1766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4B56A54-54DF-7BD4-F196-064619D6B0B7}"/>
              </a:ext>
            </a:extLst>
          </p:cNvPr>
          <p:cNvSpPr/>
          <p:nvPr/>
        </p:nvSpPr>
        <p:spPr>
          <a:xfrm>
            <a:off x="1962150" y="323850"/>
            <a:ext cx="8001000" cy="572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14968A2-CFBD-04C5-F5D0-64E143D6EAF6}"/>
              </a:ext>
            </a:extLst>
          </p:cNvPr>
          <p:cNvSpPr txBox="1"/>
          <p:nvPr/>
        </p:nvSpPr>
        <p:spPr>
          <a:xfrm>
            <a:off x="86778" y="1477918"/>
            <a:ext cx="1145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200" dirty="0"/>
              <a:t>IMPORT </a:t>
            </a:r>
            <a:r xmlns:a="http://schemas.openxmlformats.org/drawingml/2006/main">
              <a:rPr lang="en" sz="1200" dirty="0" err="1"/>
              <a:t>PHP'S</a:t>
            </a:r>
            <a:endParaRPr xmlns:a="http://schemas.openxmlformats.org/drawingml/2006/main" lang="de-AT" sz="1200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AD36711-3C50-05A3-A902-6BF8AD96D359}"/>
              </a:ext>
            </a:extLst>
          </p:cNvPr>
          <p:cNvSpPr txBox="1"/>
          <p:nvPr/>
        </p:nvSpPr>
        <p:spPr>
          <a:xfrm>
            <a:off x="7951929" y="1912541"/>
            <a:ext cx="10631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050" dirty="0"/>
              <a:t>REPORT data</a:t>
            </a:r>
          </a:p>
          <a:p>
            <a:r xmlns:a="http://schemas.openxmlformats.org/drawingml/2006/main">
              <a:rPr lang="en" sz="1050" dirty="0"/>
              <a:t>Customers</a:t>
            </a:r>
            <a:endParaRPr xmlns:a="http://schemas.openxmlformats.org/drawingml/2006/main" lang="de-AT" sz="1050" dirty="0"/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52D6896-0606-7E7E-3A56-56E979BB5EA3}"/>
              </a:ext>
            </a:extLst>
          </p:cNvPr>
          <p:cNvSpPr/>
          <p:nvPr/>
        </p:nvSpPr>
        <p:spPr>
          <a:xfrm>
            <a:off x="7779965" y="2718618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TICKET_</a:t>
            </a:r>
          </a:p>
          <a:p>
            <a:pPr xmlns:a="http://schemas.openxmlformats.org/drawingml/2006/main" algn="ctr"/>
            <a:r xmlns:a="http://schemas.openxmlformats.org/drawingml/2006/main">
              <a:rPr lang="en" sz="1050" dirty="0"/>
              <a:t>INKO2016</a:t>
            </a:r>
            <a:endParaRPr xmlns:a="http://schemas.openxmlformats.org/drawingml/2006/main" lang="de-AT" sz="1050" dirty="0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19D522D3-286B-BC16-17D2-CD76C7935A54}"/>
              </a:ext>
            </a:extLst>
          </p:cNvPr>
          <p:cNvSpPr/>
          <p:nvPr/>
        </p:nvSpPr>
        <p:spPr>
          <a:xfrm>
            <a:off x="7779965" y="3136045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TICKET_</a:t>
            </a:r>
          </a:p>
          <a:p>
            <a:pPr xmlns:a="http://schemas.openxmlformats.org/drawingml/2006/main" algn="ctr"/>
            <a:r xmlns:a="http://schemas.openxmlformats.org/drawingml/2006/main">
              <a:rPr lang="en" sz="1050" dirty="0"/>
              <a:t>INCODE</a:t>
            </a:r>
            <a:endParaRPr xmlns:a="http://schemas.openxmlformats.org/drawingml/2006/main" lang="de-AT" sz="1050" dirty="0"/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A90095FD-32C2-4BEB-E83E-DF54B9AE2760}"/>
              </a:ext>
            </a:extLst>
          </p:cNvPr>
          <p:cNvSpPr/>
          <p:nvPr/>
        </p:nvSpPr>
        <p:spPr>
          <a:xfrm>
            <a:off x="7779965" y="3566728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TICKET_</a:t>
            </a:r>
          </a:p>
          <a:p>
            <a:pPr xmlns:a="http://schemas.openxmlformats.org/drawingml/2006/main" algn="ctr"/>
            <a:r xmlns:a="http://schemas.openxmlformats.org/drawingml/2006/main">
              <a:rPr lang="en" sz="1050" dirty="0"/>
              <a:t>ECO</a:t>
            </a:r>
            <a:endParaRPr xmlns:a="http://schemas.openxmlformats.org/drawingml/2006/main" lang="de-AT" sz="1050" dirty="0"/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516ADFF6-69F1-6819-2774-C1B976789D5D}"/>
              </a:ext>
            </a:extLst>
          </p:cNvPr>
          <p:cNvSpPr/>
          <p:nvPr/>
        </p:nvSpPr>
        <p:spPr>
          <a:xfrm>
            <a:off x="7779965" y="4012346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TICKET_</a:t>
            </a:r>
          </a:p>
          <a:p>
            <a:pPr xmlns:a="http://schemas.openxmlformats.org/drawingml/2006/main" algn="ctr"/>
            <a:r xmlns:a="http://schemas.openxmlformats.org/drawingml/2006/main">
              <a:rPr lang="en" sz="1050" dirty="0"/>
              <a:t>KNP1</a:t>
            </a:r>
            <a:endParaRPr xmlns:a="http://schemas.openxmlformats.org/drawingml/2006/main" lang="de-AT" sz="1050" dirty="0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068C4534-27DC-6EA2-5249-CD344D51C069}"/>
              </a:ext>
            </a:extLst>
          </p:cNvPr>
          <p:cNvSpPr/>
          <p:nvPr/>
        </p:nvSpPr>
        <p:spPr>
          <a:xfrm>
            <a:off x="7779965" y="4493832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TICKET</a:t>
            </a:r>
          </a:p>
          <a:p>
            <a:pPr xmlns:a="http://schemas.openxmlformats.org/drawingml/2006/main" algn="ctr"/>
            <a:r xmlns:a="http://schemas.openxmlformats.org/drawingml/2006/main">
              <a:rPr lang="en" sz="1050" dirty="0"/>
              <a:t>KNP3</a:t>
            </a:r>
            <a:endParaRPr xmlns:a="http://schemas.openxmlformats.org/drawingml/2006/main" lang="de-AT" sz="1050" dirty="0"/>
          </a:p>
        </p:txBody>
      </p:sp>
      <p:sp>
        <p:nvSpPr>
          <p:cNvPr id="38" name="Geschweifte Klammer rechts 37">
            <a:extLst>
              <a:ext uri="{FF2B5EF4-FFF2-40B4-BE49-F238E27FC236}">
                <a16:creationId xmlns:a16="http://schemas.microsoft.com/office/drawing/2014/main" id="{A1B4D2B8-B1EC-A698-D383-3B5A8D629A2A}"/>
              </a:ext>
            </a:extLst>
          </p:cNvPr>
          <p:cNvSpPr/>
          <p:nvPr/>
        </p:nvSpPr>
        <p:spPr>
          <a:xfrm flipH="1">
            <a:off x="6854449" y="2867111"/>
            <a:ext cx="662750" cy="1766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61B1C29C-3DFE-58C4-2208-42A9EEDF9EA9}"/>
              </a:ext>
            </a:extLst>
          </p:cNvPr>
          <p:cNvCxnSpPr>
            <a:stCxn id="3" idx="2"/>
          </p:cNvCxnSpPr>
          <p:nvPr/>
        </p:nvCxnSpPr>
        <p:spPr>
          <a:xfrm rot="16200000" flipH="1">
            <a:off x="5694320" y="2649580"/>
            <a:ext cx="371561" cy="18161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76DE5A51-CD28-E8F3-C711-87A799E2143D}"/>
              </a:ext>
            </a:extLst>
          </p:cNvPr>
          <p:cNvSpPr txBox="1"/>
          <p:nvPr/>
        </p:nvSpPr>
        <p:spPr>
          <a:xfrm>
            <a:off x="10062278" y="1913684"/>
            <a:ext cx="11728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200" dirty="0"/>
              <a:t>REPORT data</a:t>
            </a:r>
          </a:p>
          <a:p>
            <a:r xmlns:a="http://schemas.openxmlformats.org/drawingml/2006/main">
              <a:rPr lang="en" sz="1200" dirty="0"/>
              <a:t>Create</a:t>
            </a:r>
          </a:p>
          <a:p>
            <a:r xmlns:a="http://schemas.openxmlformats.org/drawingml/2006/main">
              <a:rPr lang="en" sz="1200" dirty="0" err="1"/>
              <a:t>PHP's </a:t>
            </a:r>
            <a:r xmlns:a="http://schemas.openxmlformats.org/drawingml/2006/main">
              <a:rPr lang="en" sz="1200" dirty="0"/>
              <a:t>:</a:t>
            </a:r>
          </a:p>
          <a:p>
            <a:r xmlns:a="http://schemas.openxmlformats.org/drawingml/2006/main">
              <a:rPr lang="en" sz="1200" dirty="0" err="1"/>
              <a:t>Kpis.php</a:t>
            </a:r>
            <a:endParaRPr xmlns:a="http://schemas.openxmlformats.org/drawingml/2006/main" lang="de-DE" sz="1200" dirty="0"/>
          </a:p>
          <a:p>
            <a:r xmlns:a="http://schemas.openxmlformats.org/drawingml/2006/main">
              <a:rPr lang="en" sz="1200" dirty="0" err="1"/>
              <a:t>Kpisemail_php</a:t>
            </a:r>
            <a:endParaRPr xmlns:a="http://schemas.openxmlformats.org/drawingml/2006/main" lang="de-DE" sz="1200" dirty="0"/>
          </a:p>
          <a:p>
            <a:r xmlns:a="http://schemas.openxmlformats.org/drawingml/2006/main">
              <a:rPr lang="en" sz="1200" dirty="0"/>
              <a:t>…</a:t>
            </a:r>
            <a:endParaRPr xmlns:a="http://schemas.openxmlformats.org/drawingml/2006/main" lang="de-AT" sz="1200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3F95857B-DD54-5DF1-8707-6D2EB5FADABF}"/>
              </a:ext>
            </a:extLst>
          </p:cNvPr>
          <p:cNvSpPr txBox="1"/>
          <p:nvPr/>
        </p:nvSpPr>
        <p:spPr>
          <a:xfrm>
            <a:off x="2329027" y="6096171"/>
            <a:ext cx="2118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200" dirty="0"/>
              <a:t>EXPORT_PHP for campaigns</a:t>
            </a:r>
            <a:endParaRPr xmlns:a="http://schemas.openxmlformats.org/drawingml/2006/main" lang="de-AT" sz="1200" dirty="0"/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D8499AD0-E8A9-D2DC-9351-57058D127E44}"/>
              </a:ext>
            </a:extLst>
          </p:cNvPr>
          <p:cNvSpPr/>
          <p:nvPr/>
        </p:nvSpPr>
        <p:spPr>
          <a:xfrm>
            <a:off x="2798220" y="4631800"/>
            <a:ext cx="1352550" cy="11318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sz="900" dirty="0" err="1"/>
              <a:t>INCODE_urgency</a:t>
            </a:r>
            <a:endParaRPr xmlns:a="http://schemas.openxmlformats.org/drawingml/2006/main" lang="de-DE" sz="900" dirty="0"/>
          </a:p>
          <a:p>
            <a:r xmlns:a="http://schemas.openxmlformats.org/drawingml/2006/main">
              <a:rPr lang="en" sz="900" dirty="0" err="1"/>
              <a:t>INCODE_duplet</a:t>
            </a:r>
            <a:endParaRPr xmlns:a="http://schemas.openxmlformats.org/drawingml/2006/main" lang="de-DE" sz="900" dirty="0"/>
          </a:p>
          <a:p>
            <a:r xmlns:a="http://schemas.openxmlformats.org/drawingml/2006/main">
              <a:rPr lang="en" sz="900" dirty="0" err="1"/>
              <a:t>INCODE_multiple</a:t>
            </a:r>
            <a:endParaRPr xmlns:a="http://schemas.openxmlformats.org/drawingml/2006/main" lang="de-DE" sz="900" dirty="0"/>
          </a:p>
          <a:p>
            <a:r xmlns:a="http://schemas.openxmlformats.org/drawingml/2006/main">
              <a:rPr lang="en" sz="900" dirty="0"/>
              <a:t>INCODE_multiple2</a:t>
            </a:r>
          </a:p>
          <a:p>
            <a:r xmlns:a="http://schemas.openxmlformats.org/drawingml/2006/main">
              <a:rPr lang="en" sz="900" dirty="0"/>
              <a:t>INKO2016 ….</a:t>
            </a:r>
          </a:p>
          <a:p>
            <a:r xmlns:a="http://schemas.openxmlformats.org/drawingml/2006/main">
              <a:rPr lang="en" sz="900" dirty="0"/>
              <a:t>…</a:t>
            </a:r>
          </a:p>
          <a:p>
            <a:r xmlns:a="http://schemas.openxmlformats.org/drawingml/2006/main">
              <a:rPr lang="en" sz="900" dirty="0"/>
              <a:t>KNP3_urgency …</a:t>
            </a:r>
            <a:endParaRPr xmlns:a="http://schemas.openxmlformats.org/drawingml/2006/main" lang="de-AT" sz="900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11F39C7C-B9D5-6404-D3CC-ACBF07916FEB}"/>
              </a:ext>
            </a:extLst>
          </p:cNvPr>
          <p:cNvSpPr txBox="1"/>
          <p:nvPr/>
        </p:nvSpPr>
        <p:spPr>
          <a:xfrm>
            <a:off x="3603535" y="586451"/>
            <a:ext cx="12298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050" dirty="0"/>
              <a:t>Key tables</a:t>
            </a:r>
            <a:endParaRPr xmlns:a="http://schemas.openxmlformats.org/drawingml/2006/main" lang="de-AT" sz="1050" dirty="0"/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C03E19DB-694B-9007-2985-68E8BDD45340}"/>
              </a:ext>
            </a:extLst>
          </p:cNvPr>
          <p:cNvSpPr/>
          <p:nvPr/>
        </p:nvSpPr>
        <p:spPr>
          <a:xfrm>
            <a:off x="3706555" y="1662584"/>
            <a:ext cx="615950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sz="1050" dirty="0"/>
              <a:t>campaign</a:t>
            </a:r>
            <a:endParaRPr xmlns:a="http://schemas.openxmlformats.org/drawingml/2006/main" lang="de-AT" sz="1050" dirty="0"/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14ABAF8-8045-6651-89B6-AB8B7A39B10D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014530" y="2049934"/>
            <a:ext cx="272481" cy="378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2AD3FA4E-2CCB-8FF5-6C2B-777516C535EC}"/>
              </a:ext>
            </a:extLst>
          </p:cNvPr>
          <p:cNvSpPr/>
          <p:nvPr/>
        </p:nvSpPr>
        <p:spPr>
          <a:xfrm>
            <a:off x="6636998" y="727718"/>
            <a:ext cx="1149350" cy="9785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sz="900" dirty="0"/>
              <a:t>STATUS</a:t>
            </a:r>
          </a:p>
          <a:p>
            <a:r xmlns:a="http://schemas.openxmlformats.org/drawingml/2006/main">
              <a:rPr lang="en" sz="900" dirty="0"/>
              <a:t>CALL STATUS </a:t>
            </a:r>
            <a:br xmlns:a="http://schemas.openxmlformats.org/drawingml/2006/main">
              <a:rPr lang="de-DE" sz="900" dirty="0"/>
            </a:br>
            <a:r xmlns:a="http://schemas.openxmlformats.org/drawingml/2006/main">
              <a:rPr lang="en" sz="900" dirty="0"/>
              <a:t>REASON</a:t>
            </a:r>
          </a:p>
          <a:p>
            <a:r xmlns:a="http://schemas.openxmlformats.org/drawingml/2006/main">
              <a:rPr lang="en" sz="900" dirty="0"/>
              <a:t>COMPANY</a:t>
            </a:r>
          </a:p>
          <a:p>
            <a:r xmlns:a="http://schemas.openxmlformats.org/drawingml/2006/main">
              <a:rPr lang="en" sz="900" dirty="0"/>
              <a:t>NUMBERS </a:t>
            </a:r>
            <a:br xmlns:a="http://schemas.openxmlformats.org/drawingml/2006/main">
              <a:rPr lang="de-DE" sz="900" dirty="0"/>
            </a:br>
            <a:r xmlns:a="http://schemas.openxmlformats.org/drawingml/2006/main">
              <a:rPr lang="en" sz="900" dirty="0"/>
              <a:t>YES NO</a:t>
            </a:r>
          </a:p>
          <a:p>
            <a:pPr algn="ctr"/>
            <a:endParaRPr lang="de-AT" sz="900" dirty="0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A46B9337-147F-0C5D-4AA3-310DF3885345}"/>
              </a:ext>
            </a:extLst>
          </p:cNvPr>
          <p:cNvCxnSpPr/>
          <p:nvPr/>
        </p:nvCxnSpPr>
        <p:spPr>
          <a:xfrm flipH="1">
            <a:off x="5591175" y="1708150"/>
            <a:ext cx="1057275" cy="812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4CC260EF-2FA5-6284-4C71-8D481B0A89DF}"/>
              </a:ext>
            </a:extLst>
          </p:cNvPr>
          <p:cNvSpPr txBox="1"/>
          <p:nvPr/>
        </p:nvSpPr>
        <p:spPr>
          <a:xfrm>
            <a:off x="6539705" y="6168350"/>
            <a:ext cx="1828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200" dirty="0"/>
              <a:t>IMPORT_PHP Results</a:t>
            </a:r>
          </a:p>
          <a:p>
            <a:r xmlns:a="http://schemas.openxmlformats.org/drawingml/2006/main">
              <a:rPr lang="en" sz="1200" dirty="0"/>
              <a:t>from campaigns</a:t>
            </a:r>
            <a:endParaRPr xmlns:a="http://schemas.openxmlformats.org/drawingml/2006/main" lang="de-AT" sz="1200" dirty="0"/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5ECC6F8-31FD-7B8A-0521-392FDCD467FE}"/>
              </a:ext>
            </a:extLst>
          </p:cNvPr>
          <p:cNvCxnSpPr/>
          <p:nvPr/>
        </p:nvCxnSpPr>
        <p:spPr>
          <a:xfrm flipH="1" flipV="1">
            <a:off x="5473699" y="3429000"/>
            <a:ext cx="164307" cy="135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E7AC00E8-E626-807D-3177-EB216C0BF197}"/>
              </a:ext>
            </a:extLst>
          </p:cNvPr>
          <p:cNvSpPr txBox="1"/>
          <p:nvPr/>
        </p:nvSpPr>
        <p:spPr>
          <a:xfrm>
            <a:off x="2227689" y="4057552"/>
            <a:ext cx="16001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000" dirty="0"/>
              <a:t>IMPORT customer data</a:t>
            </a:r>
          </a:p>
          <a:p>
            <a:r xmlns:a="http://schemas.openxmlformats.org/drawingml/2006/main">
              <a:rPr lang="en" sz="1000" dirty="0"/>
              <a:t>Auxiliary tables</a:t>
            </a:r>
          </a:p>
          <a:p>
            <a:r xmlns:a="http://schemas.openxmlformats.org/drawingml/2006/main">
              <a:rPr lang="en" sz="1000" dirty="0"/>
              <a:t>(Duplicates per client!!)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F35B9B2-4044-31B5-4A4D-BB14E79E82DC}"/>
              </a:ext>
            </a:extLst>
          </p:cNvPr>
          <p:cNvSpPr txBox="1"/>
          <p:nvPr/>
        </p:nvSpPr>
        <p:spPr>
          <a:xfrm>
            <a:off x="5473699" y="5468977"/>
            <a:ext cx="16514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000" dirty="0"/>
              <a:t>IMPORT campaign data</a:t>
            </a:r>
          </a:p>
          <a:p>
            <a:r xmlns:a="http://schemas.openxmlformats.org/drawingml/2006/main">
              <a:rPr lang="en" sz="1000" dirty="0"/>
              <a:t>Auxiliary tables</a:t>
            </a:r>
          </a:p>
          <a:p>
            <a:r xmlns:a="http://schemas.openxmlformats.org/drawingml/2006/main">
              <a:rPr lang="en" sz="1000" dirty="0"/>
              <a:t>(Duplicates per client!!)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A1AEAD7-9BC4-1F28-A1B5-A651219538F0}"/>
              </a:ext>
            </a:extLst>
          </p:cNvPr>
          <p:cNvSpPr txBox="1"/>
          <p:nvPr/>
        </p:nvSpPr>
        <p:spPr>
          <a:xfrm>
            <a:off x="6579640" y="459493"/>
            <a:ext cx="12298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1050" dirty="0"/>
              <a:t>Key tables</a:t>
            </a:r>
            <a:endParaRPr xmlns:a="http://schemas.openxmlformats.org/drawingml/2006/main" lang="de-AT" sz="1050" dirty="0"/>
          </a:p>
        </p:txBody>
      </p:sp>
      <p:sp>
        <p:nvSpPr>
          <p:cNvPr id="64" name="Pfeil: nach rechts 63">
            <a:extLst>
              <a:ext uri="{FF2B5EF4-FFF2-40B4-BE49-F238E27FC236}">
                <a16:creationId xmlns:a16="http://schemas.microsoft.com/office/drawing/2014/main" id="{55E730E9-2FE8-9C21-EE1F-2EBB450124A0}"/>
              </a:ext>
            </a:extLst>
          </p:cNvPr>
          <p:cNvSpPr/>
          <p:nvPr/>
        </p:nvSpPr>
        <p:spPr>
          <a:xfrm>
            <a:off x="1060450" y="2193499"/>
            <a:ext cx="901700" cy="507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5" name="Flussdiagramm: Gespeicherte Daten 64">
            <a:extLst>
              <a:ext uri="{FF2B5EF4-FFF2-40B4-BE49-F238E27FC236}">
                <a16:creationId xmlns:a16="http://schemas.microsoft.com/office/drawing/2014/main" id="{9806D6F3-3D20-B5A2-D836-B1A497C5B1E3}"/>
              </a:ext>
            </a:extLst>
          </p:cNvPr>
          <p:cNvSpPr/>
          <p:nvPr/>
        </p:nvSpPr>
        <p:spPr>
          <a:xfrm rot="16200000">
            <a:off x="952500" y="2966031"/>
            <a:ext cx="739773" cy="564073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66" name="Flussdiagramm: Gespeicherte Daten 65">
            <a:extLst>
              <a:ext uri="{FF2B5EF4-FFF2-40B4-BE49-F238E27FC236}">
                <a16:creationId xmlns:a16="http://schemas.microsoft.com/office/drawing/2014/main" id="{23BB79B7-5015-6466-3A88-E8E7179D6465}"/>
              </a:ext>
            </a:extLst>
          </p:cNvPr>
          <p:cNvSpPr/>
          <p:nvPr/>
        </p:nvSpPr>
        <p:spPr>
          <a:xfrm rot="16200000">
            <a:off x="3219382" y="6358171"/>
            <a:ext cx="527466" cy="317584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02D797DC-EA60-836E-E32C-026269B3039C}"/>
              </a:ext>
            </a:extLst>
          </p:cNvPr>
          <p:cNvSpPr txBox="1"/>
          <p:nvPr/>
        </p:nvSpPr>
        <p:spPr>
          <a:xfrm>
            <a:off x="1138572" y="3136045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CSV-</a:t>
            </a:r>
          </a:p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Files</a:t>
            </a:r>
            <a:endParaRPr xmlns:a="http://schemas.openxmlformats.org/drawingml/2006/main" lang="de-AT" sz="700" dirty="0">
              <a:solidFill>
                <a:schemeClr val="bg1"/>
              </a:solidFill>
            </a:endParaRP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BE496183-50E2-5890-CC49-25D30C661758}"/>
              </a:ext>
            </a:extLst>
          </p:cNvPr>
          <p:cNvSpPr txBox="1"/>
          <p:nvPr/>
        </p:nvSpPr>
        <p:spPr>
          <a:xfrm>
            <a:off x="3322980" y="6381213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CSV-</a:t>
            </a:r>
          </a:p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Files</a:t>
            </a:r>
            <a:endParaRPr xmlns:a="http://schemas.openxmlformats.org/drawingml/2006/main" lang="de-AT" sz="700" dirty="0">
              <a:solidFill>
                <a:schemeClr val="bg1"/>
              </a:solidFill>
            </a:endParaRPr>
          </a:p>
        </p:txBody>
      </p:sp>
      <p:sp>
        <p:nvSpPr>
          <p:cNvPr id="69" name="Flussdiagramm: Gespeicherte Daten 68">
            <a:extLst>
              <a:ext uri="{FF2B5EF4-FFF2-40B4-BE49-F238E27FC236}">
                <a16:creationId xmlns:a16="http://schemas.microsoft.com/office/drawing/2014/main" id="{DBAD3577-48F7-0A0F-40A0-818386E2DA4D}"/>
              </a:ext>
            </a:extLst>
          </p:cNvPr>
          <p:cNvSpPr/>
          <p:nvPr/>
        </p:nvSpPr>
        <p:spPr>
          <a:xfrm rot="16200000">
            <a:off x="6029119" y="6266465"/>
            <a:ext cx="527466" cy="317584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7A5A139-05CE-50D4-E826-4D7551BADF74}"/>
              </a:ext>
            </a:extLst>
          </p:cNvPr>
          <p:cNvSpPr txBox="1"/>
          <p:nvPr/>
        </p:nvSpPr>
        <p:spPr>
          <a:xfrm>
            <a:off x="6132717" y="6289507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CSV-</a:t>
            </a:r>
          </a:p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Files</a:t>
            </a:r>
            <a:endParaRPr xmlns:a="http://schemas.openxmlformats.org/drawingml/2006/main" lang="de-AT" sz="700" dirty="0">
              <a:solidFill>
                <a:schemeClr val="bg1"/>
              </a:solidFill>
            </a:endParaRPr>
          </a:p>
        </p:txBody>
      </p:sp>
      <p:sp>
        <p:nvSpPr>
          <p:cNvPr id="71" name="Flussdiagramm: Gespeicherte Daten 70">
            <a:extLst>
              <a:ext uri="{FF2B5EF4-FFF2-40B4-BE49-F238E27FC236}">
                <a16:creationId xmlns:a16="http://schemas.microsoft.com/office/drawing/2014/main" id="{FF04AED3-C728-F6D4-1313-7E87E11F13C8}"/>
              </a:ext>
            </a:extLst>
          </p:cNvPr>
          <p:cNvSpPr/>
          <p:nvPr/>
        </p:nvSpPr>
        <p:spPr>
          <a:xfrm rot="16200000">
            <a:off x="10030346" y="3420780"/>
            <a:ext cx="527466" cy="317584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7DBB7256-DE87-D612-4734-C2AC317D217E}"/>
              </a:ext>
            </a:extLst>
          </p:cNvPr>
          <p:cNvSpPr txBox="1"/>
          <p:nvPr/>
        </p:nvSpPr>
        <p:spPr>
          <a:xfrm>
            <a:off x="10133944" y="3443822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CSV-</a:t>
            </a:r>
          </a:p>
          <a:p>
            <a:r xmlns:a="http://schemas.openxmlformats.org/drawingml/2006/main">
              <a:rPr lang="en" sz="700" dirty="0">
                <a:solidFill>
                  <a:schemeClr val="bg1"/>
                </a:solidFill>
              </a:rPr>
              <a:t>Files</a:t>
            </a:r>
            <a:endParaRPr xmlns:a="http://schemas.openxmlformats.org/drawingml/2006/main" lang="de-AT" sz="700" dirty="0">
              <a:solidFill>
                <a:schemeClr val="bg1"/>
              </a:solidFill>
            </a:endParaRPr>
          </a:p>
        </p:txBody>
      </p:sp>
      <p:sp>
        <p:nvSpPr>
          <p:cNvPr id="73" name="Pfeil: nach rechts 72">
            <a:extLst>
              <a:ext uri="{FF2B5EF4-FFF2-40B4-BE49-F238E27FC236}">
                <a16:creationId xmlns:a16="http://schemas.microsoft.com/office/drawing/2014/main" id="{EC43B15E-39AF-BE2F-244E-64282224328F}"/>
              </a:ext>
            </a:extLst>
          </p:cNvPr>
          <p:cNvSpPr/>
          <p:nvPr/>
        </p:nvSpPr>
        <p:spPr>
          <a:xfrm rot="16200000">
            <a:off x="5474179" y="6145841"/>
            <a:ext cx="522287" cy="454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4" name="Pfeil: nach rechts 73">
            <a:extLst>
              <a:ext uri="{FF2B5EF4-FFF2-40B4-BE49-F238E27FC236}">
                <a16:creationId xmlns:a16="http://schemas.microsoft.com/office/drawing/2014/main" id="{534238A6-5668-3249-EA4B-FDB68B0D4D31}"/>
              </a:ext>
            </a:extLst>
          </p:cNvPr>
          <p:cNvSpPr/>
          <p:nvPr/>
        </p:nvSpPr>
        <p:spPr>
          <a:xfrm rot="5400000">
            <a:off x="1847214" y="6145841"/>
            <a:ext cx="522287" cy="454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5" name="Pfeil: nach rechts 74">
            <a:extLst>
              <a:ext uri="{FF2B5EF4-FFF2-40B4-BE49-F238E27FC236}">
                <a16:creationId xmlns:a16="http://schemas.microsoft.com/office/drawing/2014/main" id="{289834A3-8518-7309-29EA-07FE60266DD5}"/>
              </a:ext>
            </a:extLst>
          </p:cNvPr>
          <p:cNvSpPr/>
          <p:nvPr/>
        </p:nvSpPr>
        <p:spPr>
          <a:xfrm>
            <a:off x="9499600" y="3312729"/>
            <a:ext cx="522287" cy="454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455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7D5AED3-005C-0B61-A4BD-95D1EB6FA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62" y="0"/>
            <a:ext cx="10818476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AA0A729-3A07-5D43-A798-619838547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4384237"/>
            <a:ext cx="10414000" cy="175458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0AE0ECD-5603-73BB-0874-ADB9381E4853}"/>
              </a:ext>
            </a:extLst>
          </p:cNvPr>
          <p:cNvSpPr txBox="1"/>
          <p:nvPr/>
        </p:nvSpPr>
        <p:spPr>
          <a:xfrm>
            <a:off x="889000" y="3962400"/>
            <a:ext cx="7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dirty="0"/>
              <a:t>DB: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368156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F7428-2726-C9BC-399F-5E5F562D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81F74BC-5773-3DCC-2844-D68B1B5D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72" y="0"/>
            <a:ext cx="10642256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07CFAAE-8426-B933-B4BF-336480286243}"/>
              </a:ext>
            </a:extLst>
          </p:cNvPr>
          <p:cNvSpPr txBox="1"/>
          <p:nvPr/>
        </p:nvSpPr>
        <p:spPr>
          <a:xfrm>
            <a:off x="673100" y="3302000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DB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396667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AC68-D8F5-A17C-3B48-39E58183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C5A29A1-93AB-870C-1DCD-815B8924A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722326"/>
            <a:ext cx="9677400" cy="187727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534B1BB-350D-A5F7-BFA7-45728B10596A}"/>
              </a:ext>
            </a:extLst>
          </p:cNvPr>
          <p:cNvSpPr txBox="1"/>
          <p:nvPr/>
        </p:nvSpPr>
        <p:spPr>
          <a:xfrm>
            <a:off x="184150" y="171450"/>
            <a:ext cx="12316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DB</a:t>
            </a:r>
          </a:p>
          <a:p>
            <a:endParaRPr lang="de-DE" dirty="0"/>
          </a:p>
          <a:p>
            <a:r xmlns:a="http://schemas.openxmlformats.org/drawingml/2006/main">
              <a:rPr lang="en" dirty="0"/>
              <a:t>CLIENT</a:t>
            </a:r>
            <a:endParaRPr xmlns:a="http://schemas.openxmlformats.org/drawingml/2006/main"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0A5E0D3-951C-9E0B-42D9-8F0ADF2A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164612"/>
            <a:ext cx="9810750" cy="100012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22ECC68-62B0-FC96-739F-3D02E0706309}"/>
              </a:ext>
            </a:extLst>
          </p:cNvPr>
          <p:cNvSpPr txBox="1"/>
          <p:nvPr/>
        </p:nvSpPr>
        <p:spPr>
          <a:xfrm>
            <a:off x="111126" y="4813316"/>
            <a:ext cx="117926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Special features:</a:t>
            </a:r>
          </a:p>
          <a:p>
            <a:pPr xmlns:a="http://schemas.openxmlformats.org/drawingml/2006/main" marL="285750" indent="-285750">
              <a:buFont typeface="Arial" panose="020B0604020202020204" pitchFamily="34" charset="0"/>
              <a:buChar char="•"/>
            </a:pPr>
            <a:r xmlns:a="http://schemas.openxmlformats.org/drawingml/2006/main">
              <a:rPr lang="en" dirty="0"/>
              <a:t>Password encrypted</a:t>
            </a:r>
          </a:p>
          <a:p>
            <a:pPr xmlns:a="http://schemas.openxmlformats.org/drawingml/2006/main" marL="285750" indent="-285750">
              <a:buFont typeface="Arial" panose="020B0604020202020204" pitchFamily="34" charset="0"/>
              <a:buChar char="•"/>
            </a:pPr>
            <a:r xmlns:a="http://schemas.openxmlformats.org/drawingml/2006/main">
              <a:rPr lang="en" dirty="0"/>
              <a:t>Session cookies – these have recently been causing </a:t>
            </a:r>
            <a:r xmlns:a="http://schemas.openxmlformats.org/drawingml/2006/main">
              <a:rPr lang="en" dirty="0"/>
              <a:t>problems with current </a:t>
            </a:r>
            <a:r xmlns:a="http://schemas.openxmlformats.org/drawingml/2006/main">
              <a:rPr lang="en" dirty="0" err="1"/>
              <a:t>Firefox versions, as they are being lost.</a:t>
            </a:r>
          </a:p>
          <a:p>
            <a:r xmlns:a="http://schemas.openxmlformats.org/drawingml/2006/main">
              <a:rPr lang="en" dirty="0"/>
              <a:t>and the dialog then no longer works; current </a:t>
            </a:r>
            <a:r xmlns:a="http://schemas.openxmlformats.org/drawingml/2006/main">
              <a:rPr lang="en" dirty="0" err="1"/>
              <a:t>workaround </a:t>
            </a:r>
            <a:r xmlns:a="http://schemas.openxmlformats.org/drawingml/2006/main">
              <a:rPr lang="en" dirty="0"/>
              <a:t>: log out, delete cookie, </a:t>
            </a:r>
            <a:r xmlns:a="http://schemas.openxmlformats.org/drawingml/2006/main">
              <a:rPr lang="en" dirty="0"/>
              <a:t>close </a:t>
            </a:r>
            <a:r xmlns:a="http://schemas.openxmlformats.org/drawingml/2006/main">
              <a:rPr lang="en" dirty="0" err="1"/>
              <a:t>browser , or use an old browser.</a:t>
            </a:r>
          </a:p>
          <a:p>
            <a:r xmlns:a="http://schemas.openxmlformats.org/drawingml/2006/main">
              <a:rPr lang="en" dirty="0"/>
              <a:t>Browser version</a:t>
            </a:r>
          </a:p>
          <a:p>
            <a:r xmlns:a="http://schemas.openxmlformats.org/drawingml/2006/main">
              <a:rPr lang="en" dirty="0"/>
              <a:t>ATTENTION: Firefox only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44A722E-A2F1-0E4C-3C3E-FF995EF1A5A5}"/>
              </a:ext>
            </a:extLst>
          </p:cNvPr>
          <p:cNvSpPr txBox="1"/>
          <p:nvPr/>
        </p:nvSpPr>
        <p:spPr>
          <a:xfrm>
            <a:off x="111126" y="2697438"/>
            <a:ext cx="6188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 xmlns:a="http://schemas.openxmlformats.org/drawingml/2006/main">
              <a:rPr lang="en" dirty="0"/>
              <a:t>CLIENT_USER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19614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0B81-ADF5-146D-98C6-C2B1D495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D0EE13F-4245-8722-A29E-909CBC8CA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02" y="0"/>
            <a:ext cx="10605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7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25027-95B2-D0E8-7F6D-8CED8BBC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4E39A9E-2DAE-81B9-5C22-70080810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02" y="0"/>
            <a:ext cx="10588196" cy="6858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C44F1AC-B175-F6F7-180B-015075C0A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49" y="4287678"/>
            <a:ext cx="8372953" cy="182737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309EF5E-574B-7F06-063E-A3FAEF21325D}"/>
              </a:ext>
            </a:extLst>
          </p:cNvPr>
          <p:cNvSpPr txBox="1"/>
          <p:nvPr/>
        </p:nvSpPr>
        <p:spPr>
          <a:xfrm>
            <a:off x="1371600" y="3918346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DB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29660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D0601-D010-47A5-9E91-5D1A6757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C7D2B21-BFDD-56DD-E1E5-D459BCC5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20"/>
            <a:ext cx="12192000" cy="66549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06A70CB-177B-05A9-2AC1-D2190FB4EB7B}"/>
              </a:ext>
            </a:extLst>
          </p:cNvPr>
          <p:cNvSpPr/>
          <p:nvPr/>
        </p:nvSpPr>
        <p:spPr>
          <a:xfrm>
            <a:off x="8566150" y="2311400"/>
            <a:ext cx="3448050" cy="194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1591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081A-1C9D-6FB8-8076-29817113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9D9B441-94AB-ECFB-774B-C5386073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066"/>
            <a:ext cx="12192000" cy="514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0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83B5-76A8-77B7-9029-F3D07E73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4DE09D3-EBE2-4A81-D417-D0393657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61" y="231460"/>
            <a:ext cx="9688277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6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959BD55-4604-9A69-BF67-3A5693FC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565465"/>
            <a:ext cx="12192000" cy="439356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F2AC45D-BF76-56A1-FAA1-E3FA05DED808}"/>
              </a:ext>
            </a:extLst>
          </p:cNvPr>
          <p:cNvSpPr txBox="1"/>
          <p:nvPr/>
        </p:nvSpPr>
        <p:spPr>
          <a:xfrm>
            <a:off x="508000" y="146050"/>
            <a:ext cx="2490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List boxes – tables…</a:t>
            </a:r>
            <a:endParaRPr xmlns:a="http://schemas.openxmlformats.org/drawingml/2006/main"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6AE905-452B-FBDA-9BCA-3B700A785EA5}"/>
              </a:ext>
            </a:extLst>
          </p:cNvPr>
          <p:cNvSpPr txBox="1"/>
          <p:nvPr/>
        </p:nvSpPr>
        <p:spPr>
          <a:xfrm>
            <a:off x="146050" y="5099050"/>
            <a:ext cx="20406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Status,</a:t>
            </a:r>
          </a:p>
          <a:p>
            <a:r xmlns:a="http://schemas.openxmlformats.org/drawingml/2006/main">
              <a:rPr lang="en" dirty="0"/>
              <a:t>Call status</a:t>
            </a:r>
          </a:p>
          <a:p>
            <a:r xmlns:a="http://schemas.openxmlformats.org/drawingml/2006/main">
              <a:rPr lang="en" dirty="0"/>
              <a:t>user</a:t>
            </a:r>
          </a:p>
          <a:p>
            <a:r xmlns:a="http://schemas.openxmlformats.org/drawingml/2006/main">
              <a:rPr lang="en" dirty="0"/>
              <a:t>Proposed solution,</a:t>
            </a:r>
          </a:p>
          <a:p>
            <a:r xmlns:a="http://schemas.openxmlformats.org/drawingml/2006/main">
              <a:rPr lang="en" dirty="0"/>
              <a:t>Entry, type, …</a:t>
            </a:r>
            <a:endParaRPr xmlns:a="http://schemas.openxmlformats.org/drawingml/2006/main"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0448153-DBA5-373B-7381-A805466AC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644" y="5009117"/>
            <a:ext cx="850701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6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A20332-18AC-0F2E-BD3D-43967E9EF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45" y="1366794"/>
            <a:ext cx="3038899" cy="61921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58A2329-C3AA-AF34-27AB-4BF2CAB4A2B2}"/>
              </a:ext>
            </a:extLst>
          </p:cNvPr>
          <p:cNvSpPr txBox="1"/>
          <p:nvPr/>
        </p:nvSpPr>
        <p:spPr>
          <a:xfrm>
            <a:off x="158750" y="355600"/>
            <a:ext cx="4780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DECYRPT, … - Encryption of personal data</a:t>
            </a:r>
            <a:endParaRPr xmlns:a="http://schemas.openxmlformats.org/drawingml/2006/main"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3BCF2A-84D9-1631-ABD7-399F7A9EE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7556"/>
            <a:ext cx="12192000" cy="339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69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FF30-BC09-0A4B-5964-7C9285D8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084A98C-9852-4DE4-59A5-2CA97140F218}"/>
              </a:ext>
            </a:extLst>
          </p:cNvPr>
          <p:cNvSpPr txBox="1"/>
          <p:nvPr/>
        </p:nvSpPr>
        <p:spPr>
          <a:xfrm>
            <a:off x="508000" y="146050"/>
            <a:ext cx="2490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List boxes – tables…</a:t>
            </a:r>
            <a:endParaRPr xmlns:a="http://schemas.openxmlformats.org/drawingml/2006/main"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ED36ACA-3281-5A7F-AFF2-45B925074FE3}"/>
              </a:ext>
            </a:extLst>
          </p:cNvPr>
          <p:cNvSpPr txBox="1"/>
          <p:nvPr/>
        </p:nvSpPr>
        <p:spPr>
          <a:xfrm>
            <a:off x="184150" y="742950"/>
            <a:ext cx="20406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Status,</a:t>
            </a:r>
          </a:p>
          <a:p>
            <a:r xmlns:a="http://schemas.openxmlformats.org/drawingml/2006/main">
              <a:rPr lang="en" dirty="0"/>
              <a:t>Call status</a:t>
            </a:r>
          </a:p>
          <a:p>
            <a:r xmlns:a="http://schemas.openxmlformats.org/drawingml/2006/main">
              <a:rPr lang="en" dirty="0"/>
              <a:t>user</a:t>
            </a:r>
          </a:p>
          <a:p>
            <a:r xmlns:a="http://schemas.openxmlformats.org/drawingml/2006/main">
              <a:rPr lang="en" dirty="0"/>
              <a:t>Proposed solution,</a:t>
            </a:r>
          </a:p>
          <a:p>
            <a:r xmlns:a="http://schemas.openxmlformats.org/drawingml/2006/main">
              <a:rPr lang="en" dirty="0"/>
              <a:t>Entry, type…</a:t>
            </a:r>
            <a:endParaRPr xmlns:a="http://schemas.openxmlformats.org/drawingml/2006/main"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AD1A9DF-EEBA-9657-0745-5EEE3568B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651187"/>
            <a:ext cx="10394950" cy="125628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D54CAA1-02FB-CE9B-5AF0-E8AB1F8B5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267" y="2043272"/>
            <a:ext cx="10498015" cy="138131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2ABE642-8215-576C-37CE-D2AC52656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3606574"/>
            <a:ext cx="7917536" cy="325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DDB8-699A-8240-0B1F-8E4EA57F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C4A8DBF-E7B4-5D1A-409C-D52C6B73A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87" y="90022"/>
            <a:ext cx="8583223" cy="66779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736AAE0-42A3-6086-3CCE-3273010D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099" y="514273"/>
            <a:ext cx="3839111" cy="110505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711431F-A373-0251-625D-98E333177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5397331"/>
            <a:ext cx="10185400" cy="1370647"/>
          </a:xfrm>
          <a:prstGeom prst="rect">
            <a:avLst/>
          </a:prstGeom>
        </p:spPr>
      </p:pic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215733E7-D63C-5F49-5124-F5F70C48FEA1}"/>
              </a:ext>
            </a:extLst>
          </p:cNvPr>
          <p:cNvSpPr/>
          <p:nvPr/>
        </p:nvSpPr>
        <p:spPr>
          <a:xfrm>
            <a:off x="2444750" y="4584700"/>
            <a:ext cx="692150" cy="8763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Pfeil: nach unten 11">
            <a:extLst>
              <a:ext uri="{FF2B5EF4-FFF2-40B4-BE49-F238E27FC236}">
                <a16:creationId xmlns:a16="http://schemas.microsoft.com/office/drawing/2014/main" id="{EFFD4E25-86A8-1A70-665C-430363188BC6}"/>
              </a:ext>
            </a:extLst>
          </p:cNvPr>
          <p:cNvSpPr/>
          <p:nvPr/>
        </p:nvSpPr>
        <p:spPr>
          <a:xfrm rot="3256344">
            <a:off x="4842574" y="73788"/>
            <a:ext cx="495300" cy="52761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943F310-7BCF-C3A8-467E-1B176DC3DFDC}"/>
              </a:ext>
            </a:extLst>
          </p:cNvPr>
          <p:cNvSpPr txBox="1"/>
          <p:nvPr/>
        </p:nvSpPr>
        <p:spPr>
          <a:xfrm>
            <a:off x="8636306" y="1689100"/>
            <a:ext cx="27299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TELEPHONE CALL</a:t>
            </a:r>
          </a:p>
          <a:p>
            <a:endParaRPr lang="de-DE" dirty="0"/>
          </a:p>
          <a:p>
            <a:r xmlns:a="http://schemas.openxmlformats.org/drawingml/2006/main">
              <a:rPr lang="en" dirty="0"/>
              <a:t>https controls local</a:t>
            </a:r>
          </a:p>
          <a:p>
            <a:r xmlns:a="http://schemas.openxmlformats.org/drawingml/2006/main">
              <a:rPr lang="en" dirty="0"/>
              <a:t>BRIA5 phone on client</a:t>
            </a:r>
          </a:p>
          <a:p>
            <a:r xmlns:a="http://schemas.openxmlformats.org/drawingml/2006/main">
              <a:rPr lang="en" dirty="0"/>
              <a:t>on – then we were called out</a:t>
            </a:r>
          </a:p>
        </p:txBody>
      </p:sp>
    </p:spTree>
    <p:extLst>
      <p:ext uri="{BB962C8B-B14F-4D97-AF65-F5344CB8AC3E}">
        <p14:creationId xmlns:p14="http://schemas.microsoft.com/office/powerpoint/2010/main" val="3505163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E3F2-D09C-7282-DC29-A22B443C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4E112A9-E9AA-AC38-EFD3-EEEA0A561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585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67A764B-77BE-8159-1A09-D4796F8C8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4915732"/>
            <a:ext cx="4448620" cy="188568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F094C88-6D02-12D2-9CD2-52E9C4E0A7B6}"/>
              </a:ext>
            </a:extLst>
          </p:cNvPr>
          <p:cNvSpPr txBox="1"/>
          <p:nvPr/>
        </p:nvSpPr>
        <p:spPr>
          <a:xfrm>
            <a:off x="5835650" y="5257800"/>
            <a:ext cx="62970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 err="1"/>
              <a:t>Javascript </a:t>
            </a:r>
            <a:r xmlns:a="http://schemas.openxmlformats.org/drawingml/2006/main">
              <a:rPr lang="en" dirty="0"/>
              <a:t>for validating the input or for</a:t>
            </a:r>
          </a:p>
          <a:p>
            <a:r xmlns:a="http://schemas.openxmlformats.org/drawingml/2006/main">
              <a:rPr lang="en" dirty="0"/>
              <a:t>Automatic field filling!!!</a:t>
            </a:r>
          </a:p>
          <a:p>
            <a:endParaRPr lang="de-DE" dirty="0"/>
          </a:p>
          <a:p>
            <a:r xmlns:a="http://schemas.openxmlformats.org/drawingml/2006/main">
              <a:rPr lang="en" dirty="0" err="1"/>
              <a:t>Functionally, </a:t>
            </a:r>
            <a:r xmlns:a="http://schemas.openxmlformats.org/drawingml/2006/main">
              <a:rPr lang="en" dirty="0"/>
              <a:t>they are all "pretty much" the same, due to different</a:t>
            </a:r>
          </a:p>
          <a:p>
            <a:r xmlns:a="http://schemas.openxmlformats.org/drawingml/2006/main">
              <a:rPr lang="en" dirty="0"/>
              <a:t>Fields contain a lot of redundancy through copies.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2484684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8E3A-A596-CE20-07FA-BAC984E1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02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E190-D3FA-9E1B-B9BD-DA35688A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11DE771-05F1-492A-49DE-35EB45A7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7" y="1043981"/>
            <a:ext cx="5991703" cy="332130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255807-39F3-B339-0FDB-6AF5F5974C72}"/>
              </a:ext>
            </a:extLst>
          </p:cNvPr>
          <p:cNvSpPr txBox="1"/>
          <p:nvPr/>
        </p:nvSpPr>
        <p:spPr>
          <a:xfrm>
            <a:off x="501650" y="114300"/>
            <a:ext cx="4959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Basic structure of dialogue</a:t>
            </a:r>
          </a:p>
          <a:p>
            <a:r xmlns:a="http://schemas.openxmlformats.org/drawingml/2006/main">
              <a:rPr lang="en" dirty="0"/>
              <a:t>Copyable – everything </a:t>
            </a:r>
            <a:r xmlns:a="http://schemas.openxmlformats.org/drawingml/2006/main">
              <a:rPr lang="en" dirty="0" err="1"/>
              <a:t>redundant </a:t>
            </a:r>
            <a:r xmlns:a="http://schemas.openxmlformats.org/drawingml/2006/main">
              <a:rPr lang="en" dirty="0"/>
              <a:t>and then adapted,</a:t>
            </a:r>
          </a:p>
          <a:p>
            <a:r xmlns:a="http://schemas.openxmlformats.org/drawingml/2006/main">
              <a:rPr lang="en" dirty="0"/>
              <a:t>Control via “ </a:t>
            </a:r>
            <a:r xmlns:a="http://schemas.openxmlformats.org/drawingml/2006/main">
              <a:rPr lang="en" dirty="0" err="1"/>
              <a:t>campaign_id </a:t>
            </a:r>
            <a:r xmlns:a="http://schemas.openxmlformats.org/drawingml/2006/main">
              <a:rPr lang="en" dirty="0"/>
              <a:t>”</a:t>
            </a:r>
            <a:endParaRPr xmlns:a="http://schemas.openxmlformats.org/drawingml/2006/main"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5FAA7BF-FB75-B77A-1F7B-1D56DF208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117" y="4419276"/>
            <a:ext cx="10650436" cy="232442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1E8B377-4B24-81AF-0628-4B9188737F55}"/>
              </a:ext>
            </a:extLst>
          </p:cNvPr>
          <p:cNvSpPr txBox="1"/>
          <p:nvPr/>
        </p:nvSpPr>
        <p:spPr>
          <a:xfrm>
            <a:off x="342900" y="5308600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DB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2688150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408D-E179-9A83-339C-005E7512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E823FD7-22CC-27DE-7BC7-C025D6D2D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68" y="482198"/>
            <a:ext cx="3315163" cy="57539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CAC621E-72FC-52F4-A65D-9EDC797FE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50" y="602352"/>
            <a:ext cx="4629535" cy="537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9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63B4-6243-F13E-F9D5-9A356A09E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64B3D2D-EC9E-2824-19C1-E676266A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50" y="307658"/>
            <a:ext cx="2793929" cy="16905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1141A36-A9B7-CA75-76D4-CE9400144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51" y="2188710"/>
            <a:ext cx="4408750" cy="201020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0695E99-F32F-AB3A-C8ED-F11F918B4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51" y="4219892"/>
            <a:ext cx="4875812" cy="233045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75BD0A0-9E6A-FC68-957C-47DB07086AAF}"/>
              </a:ext>
            </a:extLst>
          </p:cNvPr>
          <p:cNvSpPr txBox="1"/>
          <p:nvPr/>
        </p:nvSpPr>
        <p:spPr>
          <a:xfrm>
            <a:off x="6342038" y="307658"/>
            <a:ext cx="528031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dirty="0"/>
              <a:t>FILE processing for BATCH IMPORT and EXPORT</a:t>
            </a:r>
          </a:p>
          <a:p>
            <a:endParaRPr lang="de-DE" dirty="0"/>
          </a:p>
          <a:p>
            <a:r xmlns:a="http://schemas.openxmlformats.org/drawingml/2006/main">
              <a:rPr lang="en" dirty="0"/>
              <a:t>IN = Import</a:t>
            </a:r>
          </a:p>
          <a:p>
            <a:r xmlns:a="http://schemas.openxmlformats.org/drawingml/2006/main">
              <a:rPr lang="en" dirty="0"/>
              <a:t>OUT=Export</a:t>
            </a:r>
          </a:p>
          <a:p>
            <a:endParaRPr lang="de-DE" dirty="0"/>
          </a:p>
          <a:p>
            <a:r xmlns:a="http://schemas.openxmlformats.org/drawingml/2006/main">
              <a:rPr lang="en" dirty="0"/>
              <a:t>Scripts: are for SQL statements that </a:t>
            </a:r>
            <a:r xmlns:a="http://schemas.openxmlformats.org/drawingml/2006/main">
              <a:rPr lang="en" dirty="0"/>
              <a:t>then appear in the </a:t>
            </a:r>
            <a:r xmlns:a="http://schemas.openxmlformats.org/drawingml/2006/main">
              <a:rPr lang="en" dirty="0" err="1"/>
              <a:t>batch PHP files.</a:t>
            </a:r>
          </a:p>
          <a:p>
            <a:r xmlns:a="http://schemas.openxmlformats.org/drawingml/2006/main">
              <a:rPr lang="en" dirty="0"/>
              <a:t>Read and executed</a:t>
            </a:r>
          </a:p>
          <a:p>
            <a:r xmlns:a="http://schemas.openxmlformats.org/drawingml/2006/main">
              <a:rPr lang="en" dirty="0"/>
              <a:t>Purpose = Simplification of programming = only copy and rename, </a:t>
            </a:r>
            <a:br xmlns:a="http://schemas.openxmlformats.org/drawingml/2006/main">
              <a:rPr lang="de-DE" dirty="0"/>
            </a:br>
            <a:r xmlns:a="http://schemas.openxmlformats.org/drawingml/2006/main">
              <a:rPr lang="en" dirty="0"/>
              <a:t>program code except for name and comments or log outputs</a:t>
            </a:r>
          </a:p>
          <a:p>
            <a:r xmlns:a="http://schemas.openxmlformats.org/drawingml/2006/main">
              <a:rPr lang="en" dirty="0"/>
              <a:t>identical, SQL adapted</a:t>
            </a:r>
          </a:p>
          <a:p>
            <a:endParaRPr lang="de-DE" dirty="0"/>
          </a:p>
          <a:p>
            <a:endParaRPr lang="de-DE" dirty="0"/>
          </a:p>
          <a:p>
            <a:r xmlns:a="http://schemas.openxmlformats.org/drawingml/2006/main">
              <a:rPr lang="en" dirty="0"/>
              <a:t>The only different fields in terms of content are...</a:t>
            </a:r>
          </a:p>
          <a:p>
            <a:r xmlns:a="http://schemas.openxmlformats.org/drawingml/2006/main">
              <a:rPr lang="en" dirty="0"/>
              <a:t>90-95% identical function</a:t>
            </a:r>
          </a:p>
          <a:p>
            <a:r xmlns:a="http://schemas.openxmlformats.org/drawingml/2006/main">
              <a:rPr lang="en" dirty="0"/>
              <a:t>Many redundancies – </a:t>
            </a:r>
            <a:r xmlns:a="http://schemas.openxmlformats.org/drawingml/2006/main">
              <a:rPr lang="en" dirty="0" err="1"/>
              <a:t>copy </a:t>
            </a:r>
            <a:r xmlns:a="http://schemas.openxmlformats.org/drawingml/2006/main">
              <a:rPr lang="en" dirty="0"/>
              <a:t>&amp; </a:t>
            </a:r>
            <a:r xmlns:a="http://schemas.openxmlformats.org/drawingml/2006/main">
              <a:rPr lang="en" dirty="0" err="1"/>
              <a:t>paste </a:t>
            </a:r>
            <a:r xmlns:a="http://schemas.openxmlformats.org/drawingml/2006/main">
              <a:rPr lang="en" dirty="0"/>
              <a:t>development</a:t>
            </a:r>
            <a:endParaRPr xmlns:a="http://schemas.openxmlformats.org/drawingml/2006/main" lang="de-AT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E95E5A8-579C-7091-9D5C-11516993D57F}"/>
              </a:ext>
            </a:extLst>
          </p:cNvPr>
          <p:cNvSpPr/>
          <p:nvPr/>
        </p:nvSpPr>
        <p:spPr>
          <a:xfrm>
            <a:off x="1114023" y="489397"/>
            <a:ext cx="1384478" cy="2253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A75739C-9E14-8AA1-DC6B-99044AE6EBD4}"/>
              </a:ext>
            </a:extLst>
          </p:cNvPr>
          <p:cNvSpPr/>
          <p:nvPr/>
        </p:nvSpPr>
        <p:spPr>
          <a:xfrm>
            <a:off x="1114023" y="2644461"/>
            <a:ext cx="1384478" cy="2468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150ED9B-C315-59DE-A57E-4C7AAAC66DBA}"/>
              </a:ext>
            </a:extLst>
          </p:cNvPr>
          <p:cNvSpPr/>
          <p:nvPr/>
        </p:nvSpPr>
        <p:spPr>
          <a:xfrm>
            <a:off x="1274375" y="4729300"/>
            <a:ext cx="1384478" cy="2468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5735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3F140-14DE-49A7-5707-C0A11F3A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9621A19-FF50-F120-7A3F-01A44455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6" y="812491"/>
            <a:ext cx="7535327" cy="442021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66D002D-790A-A157-6F15-A92E19333720}"/>
              </a:ext>
            </a:extLst>
          </p:cNvPr>
          <p:cNvSpPr txBox="1"/>
          <p:nvPr/>
        </p:nvSpPr>
        <p:spPr>
          <a:xfrm>
            <a:off x="4508499" y="1255960"/>
            <a:ext cx="45070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Templates-Ticktes = Ticket dialog modules</a:t>
            </a:r>
          </a:p>
          <a:p>
            <a:r xmlns:a="http://schemas.openxmlformats.org/drawingml/2006/main">
              <a:rPr lang="en" dirty="0"/>
              <a:t>Numbered via campaign!!</a:t>
            </a:r>
          </a:p>
          <a:p>
            <a:endParaRPr lang="de-DE" dirty="0"/>
          </a:p>
          <a:p>
            <a:r xmlns:a="http://schemas.openxmlformats.org/drawingml/2006/main">
              <a:rPr lang="en" dirty="0"/>
              <a:t>The only different fields in terms of content are...</a:t>
            </a:r>
          </a:p>
          <a:p>
            <a:r xmlns:a="http://schemas.openxmlformats.org/drawingml/2006/main">
              <a:rPr lang="en" dirty="0"/>
              <a:t>90-95% identical function</a:t>
            </a:r>
          </a:p>
          <a:p>
            <a:r xmlns:a="http://schemas.openxmlformats.org/drawingml/2006/main">
              <a:rPr lang="en" dirty="0"/>
              <a:t>Many </a:t>
            </a:r>
            <a:r xmlns:a="http://schemas.openxmlformats.org/drawingml/2006/main">
              <a:rPr lang="en" dirty="0" err="1"/>
              <a:t>redactions </a:t>
            </a:r>
            <a:r xmlns:a="http://schemas.openxmlformats.org/drawingml/2006/main">
              <a:rPr lang="en" dirty="0"/>
              <a:t>– </a:t>
            </a:r>
            <a:r xmlns:a="http://schemas.openxmlformats.org/drawingml/2006/main">
              <a:rPr lang="en" dirty="0" err="1"/>
              <a:t>copy </a:t>
            </a:r>
            <a:r xmlns:a="http://schemas.openxmlformats.org/drawingml/2006/main">
              <a:rPr lang="en" dirty="0"/>
              <a:t>&amp; </a:t>
            </a:r>
            <a:r xmlns:a="http://schemas.openxmlformats.org/drawingml/2006/main">
              <a:rPr lang="en" dirty="0" err="1"/>
              <a:t>paste </a:t>
            </a:r>
            <a:r xmlns:a="http://schemas.openxmlformats.org/drawingml/2006/main">
              <a:rPr lang="en" dirty="0"/>
              <a:t>development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3386337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9F3A-7CAF-F3B3-1368-EABCEC6F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658E0D3-350F-5A89-1AB0-54F1560AF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55" y="557003"/>
            <a:ext cx="7449590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31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4DE5-4370-A731-0225-B742CEB9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6807EF9-2EC1-1419-23F0-69D1534DD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63" y="280537"/>
            <a:ext cx="7335274" cy="644932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339F971-AEBC-0D6E-8779-D893D544753C}"/>
              </a:ext>
            </a:extLst>
          </p:cNvPr>
          <p:cNvCxnSpPr>
            <a:cxnSpLocks/>
          </p:cNvCxnSpPr>
          <p:nvPr/>
        </p:nvCxnSpPr>
        <p:spPr>
          <a:xfrm>
            <a:off x="889000" y="237490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CE53107-8C18-8D0A-CB6E-47C2DCABB949}"/>
              </a:ext>
            </a:extLst>
          </p:cNvPr>
          <p:cNvCxnSpPr>
            <a:cxnSpLocks/>
          </p:cNvCxnSpPr>
          <p:nvPr/>
        </p:nvCxnSpPr>
        <p:spPr>
          <a:xfrm>
            <a:off x="1009650" y="258445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F488058-9B6F-814A-F3E4-552DBFD261C3}"/>
              </a:ext>
            </a:extLst>
          </p:cNvPr>
          <p:cNvCxnSpPr>
            <a:cxnSpLocks/>
          </p:cNvCxnSpPr>
          <p:nvPr/>
        </p:nvCxnSpPr>
        <p:spPr>
          <a:xfrm>
            <a:off x="1162050" y="273685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EEF329C-8D7D-53BA-2434-881903BE6878}"/>
              </a:ext>
            </a:extLst>
          </p:cNvPr>
          <p:cNvCxnSpPr>
            <a:cxnSpLocks/>
          </p:cNvCxnSpPr>
          <p:nvPr/>
        </p:nvCxnSpPr>
        <p:spPr>
          <a:xfrm>
            <a:off x="1069975" y="293370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F96C34E-8434-6BB1-CC82-8E867AB48895}"/>
              </a:ext>
            </a:extLst>
          </p:cNvPr>
          <p:cNvCxnSpPr>
            <a:cxnSpLocks/>
          </p:cNvCxnSpPr>
          <p:nvPr/>
        </p:nvCxnSpPr>
        <p:spPr>
          <a:xfrm>
            <a:off x="1056763" y="313055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7894412-23DF-37C9-AE2F-344F867C8FC4}"/>
              </a:ext>
            </a:extLst>
          </p:cNvPr>
          <p:cNvCxnSpPr>
            <a:cxnSpLocks/>
          </p:cNvCxnSpPr>
          <p:nvPr/>
        </p:nvCxnSpPr>
        <p:spPr>
          <a:xfrm>
            <a:off x="990600" y="327660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6AD8F12-E311-E155-8C77-B3F26BE602EB}"/>
              </a:ext>
            </a:extLst>
          </p:cNvPr>
          <p:cNvCxnSpPr>
            <a:cxnSpLocks/>
          </p:cNvCxnSpPr>
          <p:nvPr/>
        </p:nvCxnSpPr>
        <p:spPr>
          <a:xfrm>
            <a:off x="806450" y="34797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221F7B7-A72A-FE13-7C76-54C6A5A4A16F}"/>
              </a:ext>
            </a:extLst>
          </p:cNvPr>
          <p:cNvCxnSpPr>
            <a:cxnSpLocks/>
          </p:cNvCxnSpPr>
          <p:nvPr/>
        </p:nvCxnSpPr>
        <p:spPr>
          <a:xfrm>
            <a:off x="889000" y="38988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423677A-D446-02C5-8579-DB2D38C9746E}"/>
              </a:ext>
            </a:extLst>
          </p:cNvPr>
          <p:cNvCxnSpPr>
            <a:cxnSpLocks/>
          </p:cNvCxnSpPr>
          <p:nvPr/>
        </p:nvCxnSpPr>
        <p:spPr>
          <a:xfrm>
            <a:off x="806450" y="36575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61205B4-FD6C-2B21-0CCF-08CDCC4C7655}"/>
              </a:ext>
            </a:extLst>
          </p:cNvPr>
          <p:cNvCxnSpPr>
            <a:cxnSpLocks/>
          </p:cNvCxnSpPr>
          <p:nvPr/>
        </p:nvCxnSpPr>
        <p:spPr>
          <a:xfrm>
            <a:off x="822325" y="40258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AE0BA24-32CE-EBCC-8A6E-FE2CA9741EB2}"/>
              </a:ext>
            </a:extLst>
          </p:cNvPr>
          <p:cNvCxnSpPr>
            <a:cxnSpLocks/>
          </p:cNvCxnSpPr>
          <p:nvPr/>
        </p:nvCxnSpPr>
        <p:spPr>
          <a:xfrm>
            <a:off x="822325" y="49021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9D11114E-98D3-2617-3AB1-11BFF7C7B7AB}"/>
              </a:ext>
            </a:extLst>
          </p:cNvPr>
          <p:cNvCxnSpPr>
            <a:cxnSpLocks/>
          </p:cNvCxnSpPr>
          <p:nvPr/>
        </p:nvCxnSpPr>
        <p:spPr>
          <a:xfrm>
            <a:off x="990600" y="50926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4773303-E9AF-6240-11CF-C1DF08721669}"/>
              </a:ext>
            </a:extLst>
          </p:cNvPr>
          <p:cNvCxnSpPr>
            <a:cxnSpLocks/>
          </p:cNvCxnSpPr>
          <p:nvPr/>
        </p:nvCxnSpPr>
        <p:spPr>
          <a:xfrm>
            <a:off x="1054100" y="52768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B63419D-0A13-3D8A-31D3-7FDB5FACBE1D}"/>
              </a:ext>
            </a:extLst>
          </p:cNvPr>
          <p:cNvCxnSpPr>
            <a:cxnSpLocks/>
          </p:cNvCxnSpPr>
          <p:nvPr/>
        </p:nvCxnSpPr>
        <p:spPr>
          <a:xfrm>
            <a:off x="1069975" y="54673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5208B2B1-9045-076B-314D-4EFFB48C8AF2}"/>
              </a:ext>
            </a:extLst>
          </p:cNvPr>
          <p:cNvCxnSpPr>
            <a:cxnSpLocks/>
          </p:cNvCxnSpPr>
          <p:nvPr/>
        </p:nvCxnSpPr>
        <p:spPr>
          <a:xfrm>
            <a:off x="990600" y="56324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7588618-4E90-AF70-A8AD-70559631EC5A}"/>
              </a:ext>
            </a:extLst>
          </p:cNvPr>
          <p:cNvCxnSpPr>
            <a:cxnSpLocks/>
          </p:cNvCxnSpPr>
          <p:nvPr/>
        </p:nvCxnSpPr>
        <p:spPr>
          <a:xfrm>
            <a:off x="990600" y="57975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E70FC7C-05D5-B0FC-D3F9-1CC831635B9C}"/>
              </a:ext>
            </a:extLst>
          </p:cNvPr>
          <p:cNvCxnSpPr>
            <a:cxnSpLocks/>
          </p:cNvCxnSpPr>
          <p:nvPr/>
        </p:nvCxnSpPr>
        <p:spPr>
          <a:xfrm>
            <a:off x="990600" y="60642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FEBCA10-3CFC-0BF6-C710-314B0025B745}"/>
              </a:ext>
            </a:extLst>
          </p:cNvPr>
          <p:cNvCxnSpPr>
            <a:cxnSpLocks/>
          </p:cNvCxnSpPr>
          <p:nvPr/>
        </p:nvCxnSpPr>
        <p:spPr>
          <a:xfrm>
            <a:off x="873125" y="64579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491CBF4-A707-D6B1-DBD0-BCB1A7A219A1}"/>
              </a:ext>
            </a:extLst>
          </p:cNvPr>
          <p:cNvCxnSpPr>
            <a:cxnSpLocks/>
          </p:cNvCxnSpPr>
          <p:nvPr/>
        </p:nvCxnSpPr>
        <p:spPr>
          <a:xfrm>
            <a:off x="911225" y="61912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BD8831D-2DEB-FBEC-604D-3A054EABF371}"/>
              </a:ext>
            </a:extLst>
          </p:cNvPr>
          <p:cNvCxnSpPr>
            <a:cxnSpLocks/>
          </p:cNvCxnSpPr>
          <p:nvPr/>
        </p:nvCxnSpPr>
        <p:spPr>
          <a:xfrm>
            <a:off x="1025525" y="66103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C080093-3DA5-F177-5F77-E7C8FAE0611E}"/>
              </a:ext>
            </a:extLst>
          </p:cNvPr>
          <p:cNvCxnSpPr>
            <a:cxnSpLocks/>
          </p:cNvCxnSpPr>
          <p:nvPr/>
        </p:nvCxnSpPr>
        <p:spPr>
          <a:xfrm>
            <a:off x="8677275" y="50926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2B08535A-92E7-E6B6-6CDA-0AF85718B601}"/>
              </a:ext>
            </a:extLst>
          </p:cNvPr>
          <p:cNvSpPr txBox="1"/>
          <p:nvPr/>
        </p:nvSpPr>
        <p:spPr>
          <a:xfrm>
            <a:off x="8997950" y="4991100"/>
            <a:ext cx="1943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= no longer active</a:t>
            </a:r>
            <a:endParaRPr xmlns:a="http://schemas.openxmlformats.org/drawingml/2006/main" lang="de-AT" dirty="0"/>
          </a:p>
        </p:txBody>
      </p:sp>
    </p:spTree>
    <p:extLst>
      <p:ext uri="{BB962C8B-B14F-4D97-AF65-F5344CB8AC3E}">
        <p14:creationId xmlns:p14="http://schemas.microsoft.com/office/powerpoint/2010/main" val="2463143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B207-EE91-91CB-817B-AB07F491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A815E0E-CBA1-5706-D2A0-7AACD5DA6837}"/>
              </a:ext>
            </a:extLst>
          </p:cNvPr>
          <p:cNvSpPr txBox="1"/>
          <p:nvPr/>
        </p:nvSpPr>
        <p:spPr>
          <a:xfrm>
            <a:off x="647700" y="234950"/>
            <a:ext cx="76598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 xmlns:a="http://schemas.openxmlformats.org/drawingml/2006/main">
              <a:rPr lang="en" dirty="0"/>
              <a:t>Batch programs</a:t>
            </a:r>
          </a:p>
          <a:p>
            <a:r xmlns:a="http://schemas.openxmlformats.org/drawingml/2006/main">
              <a:rPr lang="en" dirty="0"/>
              <a:t>PHP </a:t>
            </a:r>
            <a:r xmlns:a="http://schemas.openxmlformats.org/drawingml/2006/main">
              <a:rPr lang="en" dirty="0" err="1"/>
              <a:t>script </a:t>
            </a:r>
            <a:r xmlns:a="http://schemas.openxmlformats.org/drawingml/2006/main">
              <a:rPr lang="en" dirty="0"/>
              <a:t>to load or export data via files and/or tables</a:t>
            </a:r>
          </a:p>
          <a:p>
            <a:endParaRPr lang="de-DE" dirty="0"/>
          </a:p>
          <a:p>
            <a:r xmlns:a="http://schemas.openxmlformats.org/drawingml/2006/main">
              <a:rPr lang="en" dirty="0"/>
              <a:t>Files are </a:t>
            </a:r>
            <a:r xmlns:a="http://schemas.openxmlformats.org/drawingml/2006/main">
              <a:rPr lang="en" dirty="0"/>
              <a:t>read from and written to the IN/ </a:t>
            </a:r>
            <a:r xmlns:a="http://schemas.openxmlformats.org/drawingml/2006/main">
              <a:rPr lang="en" dirty="0" err="1"/>
              <a:t>OUT_directory.</a:t>
            </a:r>
          </a:p>
          <a:p>
            <a:endParaRPr lang="de-AT" dirty="0"/>
          </a:p>
          <a:p>
            <a:r xmlns:a="http://schemas.openxmlformats.org/drawingml/2006/main">
              <a:rPr lang="en" dirty="0"/>
              <a:t>This information is output as </a:t>
            </a:r>
            <a:r xmlns:a="http://schemas.openxmlformats.org/drawingml/2006/main">
              <a:rPr lang="en" dirty="0" err="1"/>
              <a:t>a log </a:t>
            </a:r>
            <a:r xmlns:a="http://schemas.openxmlformats.org/drawingml/2006/main">
              <a:rPr lang="en" dirty="0"/>
              <a:t>:</a:t>
            </a:r>
            <a:endParaRPr xmlns:a="http://schemas.openxmlformats.org/drawingml/2006/main"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066D39-5E71-EBE5-9526-45DCE76CF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0" y="2350964"/>
            <a:ext cx="7735380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0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585F76E-BE4C-7CB9-CE75-9A89A4836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16" y="0"/>
            <a:ext cx="4316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79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D89CF25-4346-2311-6A34-646FE5D8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452022"/>
            <a:ext cx="11545911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00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1AADBFB-EA30-16BC-C046-C2E08D181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80" y="282326"/>
            <a:ext cx="8516539" cy="356284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3FEA5F2-1AAC-BC6C-F18C-60D68CA5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80" y="4228927"/>
            <a:ext cx="862132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85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4BB623F-952F-A9C2-5F32-6A97531AD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3" y="2409682"/>
            <a:ext cx="1016459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3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Breitbild</PresentationFormat>
  <Paragraphs>137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Susanne Lauer</dc:creator>
  <cp:lastModifiedBy>Susanne Lauer</cp:lastModifiedBy>
  <cp:revision>12</cp:revision>
  <dcterms:created xsi:type="dcterms:W3CDTF">2026-03-29T13:48:21Z</dcterms:created>
  <dcterms:modified xsi:type="dcterms:W3CDTF">2026-04-06T14:00:21Z</dcterms:modified>
</cp:coreProperties>
</file>